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Start with the problem; look at the audience.
Imagine a model declines your loan application. A counterfactual explanation asks: what would need to change for the model to approve it? But which explanation method should we use? That question is difficult to answer when every study uses a different experimental setup.
0:20-0:45 | Introduce CEL and point to the four scope tiles.
We introduce CEL: a benchmark and open-source library for counterfactual explanations. Our main contribution is a controlled evaluation protocol. We standardize datasets, preprocessing, predictive models, feature constraints, and metric definitions, so comparisons are less affected by experimental choices. The aim is to compare methods on common ground.
0:45-1:10 | Read across the four tiles: datasets, methods, backbones, metrics.
The four tiles summarize the scope: eighteen datasets spanning classification and regression; fourteen methods across local, global, and group-wise explanations; two predictive backbones per task; and nine reported classification metrics. These cover success, change size, plausibility, and runtime, giving us a multidimensional picture rather than a single score.
1:10-1:40 | Point down the three result rows, then to the rightmost plausibility column.
Adult Census illustrates trade-offs in all three paradigms. Locally, CADEX makes small changes but has lower validity. Globally, AReS often fails, while GLOBE-CE achieves high validity. Group-wise, GLANCE succeeds more often; T-CREx makes smaller changes but rarely succeeds. The third column adds plausibility: higher log-density means explanations lie in denser regions of the learned distribution. No single method wins across all quality dimensions.
1:40-2:00 | Return to the audience and invite a poster conversation.
CEL makes these trade-offs visible and gives researchers a framework they can extend. At the poster, I can show the full results and how to add a new method. If you work on counterfactual explanations, bring your method to the benchmark.
Evidence: manuscript/main_lncs.tex (Introduction, Benchmark, Results, Conclusions); Adult Census validity, L2+Hamming and log-density plausibility panels from manuscript/figures/metrics_boxplot_local.png, metrics_boxplot_global.png and metrics_boxplot_group_wise.png. All three comparisons aggregate LR and MLP as described in the manuscript. Original plot pixels, axes, labels and aspect ratios are preserved via the poster typography derivatives; complete metric groups are translated only. Higher log-density indicates greater distributional plausibility under the fitted density model, not causal feasibility. Global method keys: 1 AReS, 2 GLOBE-CE, 3 GlobalGLANCE (GLANCE configured with one group). The four tiles summarize 18 datasets, 14 methods (10 local, 2 global, 2 group-wise), two backbones per task, and nine metrics reported in classification tables, not the whole library registry. These are representative within-paradigm comparisons, not an aggregate or cross-paradigm method ranking. Axes retain their original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8"/>
        </a:solidFill>
      </p:bgPr>
    </p:bg>
    <p:spTree>
      <p:nvGrpSpPr>
        <p:cNvPr id="1" name=""/>
        <p:cNvGrpSpPr/>
        <p:nvPr/>
      </p:nvGrpSpPr>
      <p:grpSpPr>
        <a:xfrm>
          <a:off x="0" y="0"/>
          <a:ext cx="0" cy="0"/>
          <a:chOff x="0" y="0"/>
          <a:chExt cx="0" cy="0"/>
        </a:xfrm>
      </p:grpSpPr>
      <p:sp>
        <p:nvSpPr>
          <p:cNvPr id="2" name="Text 0"/>
          <p:cNvSpPr/>
          <p:nvPr/>
        </p:nvSpPr>
        <p:spPr>
          <a:xfrm>
            <a:off x="457200" y="279350"/>
            <a:ext cx="11503152" cy="356592"/>
          </a:xfrm>
          <a:prstGeom prst="rect">
            <a:avLst/>
          </a:prstGeom>
          <a:noFill/>
          <a:ln/>
        </p:spPr>
        <p:txBody>
          <a:bodyPr wrap="square" lIns="0" tIns="0" rIns="0" bIns="0" rtlCol="0" anchor="t"/>
          <a:lstStyle/>
          <a:p>
            <a:pPr algn="l" indent="0" marL="0">
              <a:lnSpc>
                <a:spcPts val="2808"/>
              </a:lnSpc>
              <a:buNone/>
            </a:pPr>
            <a:r>
              <a:rPr lang="en-US" sz="2600" dirty="0">
                <a:solidFill>
                  <a:srgbClr val="13253C"/>
                </a:solidFill>
                <a:latin typeface="Georgia" pitchFamily="34" charset="0"/>
                <a:ea typeface="Georgia" pitchFamily="34" charset="-122"/>
                <a:cs typeface="Georgia" pitchFamily="34" charset="-120"/>
              </a:rPr>
              <a:t>CEL: Comprehensive Counterfactual Explanations Library and Benchmark</a:t>
            </a:r>
            <a:endParaRPr lang="en-US" sz="2600" dirty="0"/>
          </a:p>
        </p:txBody>
      </p:sp>
      <p:sp>
        <p:nvSpPr>
          <p:cNvPr id="3" name="Text 1"/>
          <p:cNvSpPr/>
          <p:nvPr/>
        </p:nvSpPr>
        <p:spPr>
          <a:xfrm>
            <a:off x="457200" y="838200"/>
            <a:ext cx="8549640" cy="222200"/>
          </a:xfrm>
          <a:prstGeom prst="rect">
            <a:avLst/>
          </a:prstGeom>
          <a:noFill/>
          <a:ln/>
        </p:spPr>
        <p:txBody>
          <a:bodyPr wrap="square" lIns="0" tIns="0" rIns="0" bIns="0" rtlCol="0" anchor="t"/>
          <a:lstStyle/>
          <a:p>
            <a:pPr algn="l" indent="0" marL="0">
              <a:lnSpc>
                <a:spcPts val="1750"/>
              </a:lnSpc>
              <a:buNone/>
            </a:pPr>
            <a:r>
              <a:rPr lang="en-US" sz="1400" b="1" dirty="0">
                <a:solidFill>
                  <a:srgbClr val="13253C"/>
                </a:solidFill>
                <a:latin typeface="Arial" pitchFamily="34" charset="0"/>
                <a:ea typeface="Arial" pitchFamily="34" charset="-122"/>
                <a:cs typeface="Arial" pitchFamily="34" charset="-120"/>
              </a:rPr>
              <a:t>Oleksii Furman</a:t>
            </a:r>
            <a:pPr algn="l" indent="0" marL="0">
              <a:lnSpc>
                <a:spcPts val="1750"/>
              </a:lnSpc>
              <a:buNone/>
            </a:pPr>
            <a:r>
              <a:rPr lang="en-US" sz="1400" dirty="0">
                <a:solidFill>
                  <a:srgbClr val="13253C"/>
                </a:solidFill>
                <a:latin typeface="Arial" pitchFamily="34" charset="0"/>
                <a:ea typeface="Arial" pitchFamily="34" charset="-122"/>
                <a:cs typeface="Arial" pitchFamily="34" charset="-120"/>
              </a:rPr>
              <a:t> · Łukasz Lenkiewicz · Marcel Musiałek · Maciej Zięba</a:t>
            </a:r>
            <a:endParaRPr lang="en-US" sz="1400" dirty="0"/>
          </a:p>
        </p:txBody>
      </p:sp>
      <p:pic>
        <p:nvPicPr>
          <p:cNvPr id="4" name="Image 0" descr="/Users/ofurman/pwr/counterfactuals/poster/cel-benchmark-poster/src/assets/brands/pwr-logo.png">    </p:cNvPr>
          <p:cNvPicPr>
            <a:picLocks noChangeAspect="1"/>
          </p:cNvPicPr>
          <p:nvPr/>
        </p:nvPicPr>
        <p:blipFill>
          <a:blip r:embed="rId1"/>
          <a:stretch>
            <a:fillRect/>
          </a:stretch>
        </p:blipFill>
        <p:spPr>
          <a:xfrm>
            <a:off x="9207401" y="774650"/>
            <a:ext cx="392311" cy="632371"/>
          </a:xfrm>
          <a:prstGeom prst="rect">
            <a:avLst/>
          </a:prstGeom>
        </p:spPr>
      </p:pic>
      <p:pic>
        <p:nvPicPr>
          <p:cNvPr id="5" name="Image 1" descr="/Users/ofurman/pwr/counterfactuals/poster/cel-benchmark-poster/src/assets/brands/genwro-logo.png">    </p:cNvPr>
          <p:cNvPicPr>
            <a:picLocks noChangeAspect="1"/>
          </p:cNvPicPr>
          <p:nvPr/>
        </p:nvPicPr>
        <p:blipFill>
          <a:blip r:embed="rId2"/>
          <a:stretch>
            <a:fillRect/>
          </a:stretch>
        </p:blipFill>
        <p:spPr>
          <a:xfrm>
            <a:off x="9931301" y="965150"/>
            <a:ext cx="863501" cy="219670"/>
          </a:xfrm>
          <a:prstGeom prst="rect">
            <a:avLst/>
          </a:prstGeom>
        </p:spPr>
      </p:pic>
      <p:pic>
        <p:nvPicPr>
          <p:cNvPr id="6" name="Image 2" descr="/Users/ofurman/pwr/counterfactuals/poster/cel-benchmark-poster/src/assets/brands/tpx-logo.png">    </p:cNvPr>
          <p:cNvPicPr>
            <a:picLocks noChangeAspect="1"/>
          </p:cNvPicPr>
          <p:nvPr/>
        </p:nvPicPr>
        <p:blipFill>
          <a:blip r:embed="rId3"/>
          <a:stretch>
            <a:fillRect/>
          </a:stretch>
        </p:blipFill>
        <p:spPr>
          <a:xfrm>
            <a:off x="11049000" y="965150"/>
            <a:ext cx="787301" cy="206871"/>
          </a:xfrm>
          <a:prstGeom prst="rect">
            <a:avLst/>
          </a:prstGeom>
        </p:spPr>
      </p:pic>
      <p:sp>
        <p:nvSpPr>
          <p:cNvPr id="7" name="Text 2"/>
          <p:cNvSpPr/>
          <p:nvPr/>
        </p:nvSpPr>
        <p:spPr>
          <a:xfrm>
            <a:off x="457200" y="1396901"/>
            <a:ext cx="5388763" cy="394246"/>
          </a:xfrm>
          <a:prstGeom prst="rect">
            <a:avLst/>
          </a:prstGeom>
          <a:noFill/>
          <a:ln/>
        </p:spPr>
        <p:txBody>
          <a:bodyPr wrap="square" lIns="0" tIns="0" rIns="0" bIns="0" rtlCol="0" anchor="t"/>
          <a:lstStyle/>
          <a:p>
            <a:pPr algn="l" indent="0" marL="0">
              <a:lnSpc>
                <a:spcPts val="3105"/>
              </a:lnSpc>
              <a:buNone/>
            </a:pPr>
            <a:r>
              <a:rPr lang="en-US" sz="2700" b="1" dirty="0">
                <a:solidFill>
                  <a:srgbClr val="13253C"/>
                </a:solidFill>
                <a:latin typeface="Georgia" pitchFamily="34" charset="0"/>
                <a:ea typeface="Georgia" pitchFamily="34" charset="-122"/>
                <a:cs typeface="Georgia" pitchFamily="34" charset="-120"/>
              </a:rPr>
              <a:t>Benchmark scope</a:t>
            </a:r>
            <a:endParaRPr lang="en-US" sz="2700" dirty="0"/>
          </a:p>
        </p:txBody>
      </p:sp>
      <p:sp>
        <p:nvSpPr>
          <p:cNvPr id="8" name="Text 3"/>
          <p:cNvSpPr/>
          <p:nvPr/>
        </p:nvSpPr>
        <p:spPr>
          <a:xfrm>
            <a:off x="457200" y="2082701"/>
            <a:ext cx="2565350" cy="1803350"/>
          </a:xfrm>
          <a:prstGeom prst="roundRect">
            <a:avLst>
              <a:gd name="adj" fmla="val 5634"/>
            </a:avLst>
          </a:prstGeom>
          <a:solidFill>
            <a:srgbClr val="E6F4FC"/>
          </a:solidFill>
          <a:ln w="15240">
            <a:solidFill>
              <a:srgbClr val="10384C"/>
            </a:solidFill>
            <a:prstDash val="lgDash"/>
          </a:ln>
        </p:spPr>
        <p:txBody>
          <a:bodyPr wrap="square" rtlCol="0" anchor="ctr"/>
          <a:lstStyle/>
          <a:p>
            <a:pPr indent="0" marL="0">
              <a:buNone/>
            </a:pPr>
            <a:endParaRPr lang="en-US" dirty="0"/>
          </a:p>
        </p:txBody>
      </p:sp>
      <p:sp>
        <p:nvSpPr>
          <p:cNvPr id="9" name="Text 4"/>
          <p:cNvSpPr/>
          <p:nvPr/>
        </p:nvSpPr>
        <p:spPr>
          <a:xfrm>
            <a:off x="581025" y="2206526"/>
            <a:ext cx="2336750" cy="469850"/>
          </a:xfrm>
          <a:prstGeom prst="roundRect">
            <a:avLst>
              <a:gd name="adj" fmla="val 13515"/>
            </a:avLst>
          </a:prstGeom>
          <a:solidFill>
            <a:srgbClr val="FCE8C6"/>
          </a:solidFill>
          <a:ln w="9525">
            <a:solidFill>
              <a:srgbClr val="10384C"/>
            </a:solidFill>
          </a:ln>
        </p:spPr>
        <p:txBody>
          <a:bodyPr wrap="square" rtlCol="0" anchor="ctr"/>
          <a:lstStyle/>
          <a:p>
            <a:pPr indent="0" marL="0">
              <a:buNone/>
            </a:pPr>
            <a:endParaRPr lang="en-US" dirty="0"/>
          </a:p>
        </p:txBody>
      </p:sp>
      <p:sp>
        <p:nvSpPr>
          <p:cNvPr id="10" name="Text 5"/>
          <p:cNvSpPr/>
          <p:nvPr/>
        </p:nvSpPr>
        <p:spPr>
          <a:xfrm>
            <a:off x="679400" y="2254151"/>
            <a:ext cx="518109" cy="355550"/>
          </a:xfrm>
          <a:prstGeom prst="rect">
            <a:avLst/>
          </a:prstGeom>
          <a:noFill/>
          <a:ln/>
        </p:spPr>
        <p:txBody>
          <a:bodyPr wrap="square" lIns="0" tIns="0" rIns="0" bIns="0" rtlCol="0" anchor="t"/>
          <a:lstStyle/>
          <a:p>
            <a:pPr algn="l" indent="0" marL="0">
              <a:lnSpc>
                <a:spcPts val="2800"/>
              </a:lnSpc>
              <a:buNone/>
            </a:pPr>
            <a:r>
              <a:rPr lang="en-US" sz="2800" b="1" dirty="0">
                <a:solidFill>
                  <a:srgbClr val="10384C"/>
                </a:solidFill>
                <a:latin typeface="Arial" pitchFamily="34" charset="0"/>
                <a:ea typeface="Arial" pitchFamily="34" charset="-122"/>
                <a:cs typeface="Arial" pitchFamily="34" charset="-120"/>
              </a:rPr>
              <a:t>18</a:t>
            </a:r>
            <a:endParaRPr lang="en-US" sz="2800" dirty="0"/>
          </a:p>
        </p:txBody>
      </p:sp>
      <p:sp>
        <p:nvSpPr>
          <p:cNvPr id="11" name="Text 6"/>
          <p:cNvSpPr/>
          <p:nvPr/>
        </p:nvSpPr>
        <p:spPr>
          <a:xfrm>
            <a:off x="1187351" y="2343001"/>
            <a:ext cx="1671066" cy="203150"/>
          </a:xfrm>
          <a:prstGeom prst="rect">
            <a:avLst/>
          </a:prstGeom>
          <a:noFill/>
          <a:ln/>
        </p:spPr>
        <p:txBody>
          <a:bodyPr wrap="square" lIns="0" tIns="0" rIns="0" bIns="0" rtlCol="0" anchor="t"/>
          <a:lstStyle/>
          <a:p>
            <a:pPr algn="l" indent="0" marL="0">
              <a:lnSpc>
                <a:spcPts val="1600"/>
              </a:lnSpc>
              <a:buNone/>
            </a:pPr>
            <a:r>
              <a:rPr lang="en-US" sz="1600" b="1" dirty="0">
                <a:solidFill>
                  <a:srgbClr val="10384C"/>
                </a:solidFill>
                <a:latin typeface="Arial" pitchFamily="34" charset="0"/>
                <a:ea typeface="Arial" pitchFamily="34" charset="-122"/>
                <a:cs typeface="Arial" pitchFamily="34" charset="-120"/>
              </a:rPr>
              <a:t>Datasets</a:t>
            </a:r>
            <a:endParaRPr lang="en-US" sz="1600" dirty="0"/>
          </a:p>
        </p:txBody>
      </p:sp>
      <p:sp>
        <p:nvSpPr>
          <p:cNvPr id="12" name="Text 7"/>
          <p:cNvSpPr/>
          <p:nvPr/>
        </p:nvSpPr>
        <p:spPr>
          <a:xfrm>
            <a:off x="606326" y="2790676"/>
            <a:ext cx="2318665" cy="528042"/>
          </a:xfrm>
          <a:prstGeom prst="rect">
            <a:avLst/>
          </a:prstGeom>
          <a:noFill/>
          <a:ln/>
        </p:spPr>
        <p:txBody>
          <a:bodyPr wrap="square" lIns="0" tIns="0" rIns="0" bIns="0" rtlCol="0" anchor="t"/>
          <a:lstStyle/>
          <a:p>
            <a:pPr algn="l" indent="0" marL="0">
              <a:lnSpc>
                <a:spcPts val="2080"/>
              </a:lnSpc>
              <a:buNone/>
            </a:pPr>
            <a:r>
              <a:rPr lang="en-US" sz="1600" dirty="0">
                <a:solidFill>
                  <a:srgbClr val="10384C"/>
                </a:solidFill>
                <a:latin typeface="Arial" pitchFamily="34" charset="0"/>
                <a:ea typeface="Arial" pitchFamily="34" charset="-122"/>
                <a:cs typeface="Arial" pitchFamily="34" charset="-120"/>
              </a:rPr>
              <a:t>13 classification</a:t>
            </a:r>
            <a:endParaRPr lang="en-US" sz="1600" dirty="0"/>
          </a:p>
          <a:p>
            <a:pPr algn="l" indent="0" marL="0">
              <a:lnSpc>
                <a:spcPts val="2080"/>
              </a:lnSpc>
              <a:buNone/>
            </a:pPr>
            <a:r>
              <a:rPr lang="en-US" sz="1600" dirty="0">
                <a:solidFill>
                  <a:srgbClr val="10384C"/>
                </a:solidFill>
                <a:latin typeface="Arial" pitchFamily="34" charset="0"/>
                <a:ea typeface="Arial" pitchFamily="34" charset="-122"/>
                <a:cs typeface="Arial" pitchFamily="34" charset="-120"/>
              </a:rPr>
              <a:t>5 regression</a:t>
            </a:r>
            <a:endParaRPr lang="en-US" sz="1600" dirty="0"/>
          </a:p>
        </p:txBody>
      </p:sp>
      <p:sp>
        <p:nvSpPr>
          <p:cNvPr id="13" name="Text 8"/>
          <p:cNvSpPr/>
          <p:nvPr/>
        </p:nvSpPr>
        <p:spPr>
          <a:xfrm>
            <a:off x="3174950" y="2082701"/>
            <a:ext cx="2565350" cy="1803350"/>
          </a:xfrm>
          <a:prstGeom prst="roundRect">
            <a:avLst>
              <a:gd name="adj" fmla="val 5634"/>
            </a:avLst>
          </a:prstGeom>
          <a:solidFill>
            <a:srgbClr val="E6F4FC"/>
          </a:solidFill>
          <a:ln w="15240">
            <a:solidFill>
              <a:srgbClr val="10384C"/>
            </a:solidFill>
            <a:prstDash val="lgDash"/>
          </a:ln>
        </p:spPr>
        <p:txBody>
          <a:bodyPr wrap="square" rtlCol="0" anchor="ctr"/>
          <a:lstStyle/>
          <a:p>
            <a:pPr indent="0" marL="0">
              <a:buNone/>
            </a:pPr>
            <a:endParaRPr lang="en-US" dirty="0"/>
          </a:p>
        </p:txBody>
      </p:sp>
      <p:sp>
        <p:nvSpPr>
          <p:cNvPr id="14" name="Text 9"/>
          <p:cNvSpPr/>
          <p:nvPr/>
        </p:nvSpPr>
        <p:spPr>
          <a:xfrm>
            <a:off x="3298775" y="2206526"/>
            <a:ext cx="2336750" cy="469850"/>
          </a:xfrm>
          <a:prstGeom prst="roundRect">
            <a:avLst>
              <a:gd name="adj" fmla="val 13515"/>
            </a:avLst>
          </a:prstGeom>
          <a:solidFill>
            <a:srgbClr val="FCE8C6"/>
          </a:solidFill>
          <a:ln w="9525">
            <a:solidFill>
              <a:srgbClr val="10384C"/>
            </a:solidFill>
          </a:ln>
        </p:spPr>
        <p:txBody>
          <a:bodyPr wrap="square" rtlCol="0" anchor="ctr"/>
          <a:lstStyle/>
          <a:p>
            <a:pPr indent="0" marL="0">
              <a:buNone/>
            </a:pPr>
            <a:endParaRPr lang="en-US" dirty="0"/>
          </a:p>
        </p:txBody>
      </p:sp>
      <p:sp>
        <p:nvSpPr>
          <p:cNvPr id="15" name="Text 10"/>
          <p:cNvSpPr/>
          <p:nvPr/>
        </p:nvSpPr>
        <p:spPr>
          <a:xfrm>
            <a:off x="3397151" y="2254151"/>
            <a:ext cx="518109" cy="355550"/>
          </a:xfrm>
          <a:prstGeom prst="rect">
            <a:avLst/>
          </a:prstGeom>
          <a:noFill/>
          <a:ln/>
        </p:spPr>
        <p:txBody>
          <a:bodyPr wrap="square" lIns="0" tIns="0" rIns="0" bIns="0" rtlCol="0" anchor="t"/>
          <a:lstStyle/>
          <a:p>
            <a:pPr algn="l" indent="0" marL="0">
              <a:lnSpc>
                <a:spcPts val="2800"/>
              </a:lnSpc>
              <a:buNone/>
            </a:pPr>
            <a:r>
              <a:rPr lang="en-US" sz="2800" b="1" dirty="0">
                <a:solidFill>
                  <a:srgbClr val="10384C"/>
                </a:solidFill>
                <a:latin typeface="Arial" pitchFamily="34" charset="0"/>
                <a:ea typeface="Arial" pitchFamily="34" charset="-122"/>
                <a:cs typeface="Arial" pitchFamily="34" charset="-120"/>
              </a:rPr>
              <a:t>14</a:t>
            </a:r>
            <a:endParaRPr lang="en-US" sz="2800" dirty="0"/>
          </a:p>
        </p:txBody>
      </p:sp>
      <p:sp>
        <p:nvSpPr>
          <p:cNvPr id="16" name="Text 11"/>
          <p:cNvSpPr/>
          <p:nvPr/>
        </p:nvSpPr>
        <p:spPr>
          <a:xfrm>
            <a:off x="3905101" y="2343001"/>
            <a:ext cx="1671066" cy="203150"/>
          </a:xfrm>
          <a:prstGeom prst="rect">
            <a:avLst/>
          </a:prstGeom>
          <a:noFill/>
          <a:ln/>
        </p:spPr>
        <p:txBody>
          <a:bodyPr wrap="square" lIns="0" tIns="0" rIns="0" bIns="0" rtlCol="0" anchor="t"/>
          <a:lstStyle/>
          <a:p>
            <a:pPr algn="l" indent="0" marL="0">
              <a:lnSpc>
                <a:spcPts val="1600"/>
              </a:lnSpc>
              <a:buNone/>
            </a:pPr>
            <a:r>
              <a:rPr lang="en-US" sz="1600" b="1" dirty="0">
                <a:solidFill>
                  <a:srgbClr val="10384C"/>
                </a:solidFill>
                <a:latin typeface="Arial" pitchFamily="34" charset="0"/>
                <a:ea typeface="Arial" pitchFamily="34" charset="-122"/>
                <a:cs typeface="Arial" pitchFamily="34" charset="-120"/>
              </a:rPr>
              <a:t>Methods</a:t>
            </a:r>
            <a:endParaRPr lang="en-US" sz="1600" dirty="0"/>
          </a:p>
        </p:txBody>
      </p:sp>
      <p:sp>
        <p:nvSpPr>
          <p:cNvPr id="17" name="Text 12"/>
          <p:cNvSpPr/>
          <p:nvPr/>
        </p:nvSpPr>
        <p:spPr>
          <a:xfrm>
            <a:off x="3324076" y="2790676"/>
            <a:ext cx="2318665" cy="742950"/>
          </a:xfrm>
          <a:prstGeom prst="rect">
            <a:avLst/>
          </a:prstGeom>
          <a:noFill/>
          <a:ln/>
        </p:spPr>
        <p:txBody>
          <a:bodyPr wrap="square" lIns="0" tIns="0" rIns="0" bIns="0" rtlCol="0" anchor="t"/>
          <a:lstStyle/>
          <a:p>
            <a:pPr algn="l" indent="0" marL="0">
              <a:lnSpc>
                <a:spcPts val="1950"/>
              </a:lnSpc>
              <a:buNone/>
            </a:pPr>
            <a:r>
              <a:rPr lang="en-US" sz="1500" dirty="0">
                <a:solidFill>
                  <a:srgbClr val="10384C"/>
                </a:solidFill>
                <a:latin typeface="Arial" pitchFamily="34" charset="0"/>
                <a:ea typeface="Arial" pitchFamily="34" charset="-122"/>
                <a:cs typeface="Arial" pitchFamily="34" charset="-120"/>
              </a:rPr>
              <a:t>10 Local</a:t>
            </a:r>
            <a:endParaRPr lang="en-US" sz="1500" dirty="0"/>
          </a:p>
          <a:p>
            <a:pPr algn="l" indent="0" marL="0">
              <a:lnSpc>
                <a:spcPts val="1950"/>
              </a:lnSpc>
              <a:buNone/>
            </a:pPr>
            <a:r>
              <a:rPr lang="en-US" sz="1500" dirty="0">
                <a:solidFill>
                  <a:srgbClr val="10384C"/>
                </a:solidFill>
                <a:latin typeface="Arial" pitchFamily="34" charset="0"/>
                <a:ea typeface="Arial" pitchFamily="34" charset="-122"/>
                <a:cs typeface="Arial" pitchFamily="34" charset="-120"/>
              </a:rPr>
              <a:t>2 Global</a:t>
            </a:r>
            <a:endParaRPr lang="en-US" sz="1500" dirty="0"/>
          </a:p>
          <a:p>
            <a:pPr algn="l" indent="0" marL="0">
              <a:lnSpc>
                <a:spcPts val="1950"/>
              </a:lnSpc>
              <a:buNone/>
            </a:pPr>
            <a:r>
              <a:rPr lang="en-US" sz="1500" dirty="0">
                <a:solidFill>
                  <a:srgbClr val="10384C"/>
                </a:solidFill>
                <a:latin typeface="Arial" pitchFamily="34" charset="0"/>
                <a:ea typeface="Arial" pitchFamily="34" charset="-122"/>
                <a:cs typeface="Arial" pitchFamily="34" charset="-120"/>
              </a:rPr>
              <a:t>2 Group-wise</a:t>
            </a:r>
            <a:endParaRPr lang="en-US" sz="1500" dirty="0"/>
          </a:p>
        </p:txBody>
      </p:sp>
      <p:sp>
        <p:nvSpPr>
          <p:cNvPr id="18" name="Text 13"/>
          <p:cNvSpPr/>
          <p:nvPr/>
        </p:nvSpPr>
        <p:spPr>
          <a:xfrm>
            <a:off x="457200" y="4038600"/>
            <a:ext cx="2565350" cy="1803350"/>
          </a:xfrm>
          <a:prstGeom prst="roundRect">
            <a:avLst>
              <a:gd name="adj" fmla="val 5634"/>
            </a:avLst>
          </a:prstGeom>
          <a:solidFill>
            <a:srgbClr val="E6F4FC"/>
          </a:solidFill>
          <a:ln w="15240">
            <a:solidFill>
              <a:srgbClr val="10384C"/>
            </a:solidFill>
            <a:prstDash val="lgDash"/>
          </a:ln>
        </p:spPr>
        <p:txBody>
          <a:bodyPr wrap="square" rtlCol="0" anchor="ctr"/>
          <a:lstStyle/>
          <a:p>
            <a:pPr indent="0" marL="0">
              <a:buNone/>
            </a:pPr>
            <a:endParaRPr lang="en-US" dirty="0"/>
          </a:p>
        </p:txBody>
      </p:sp>
      <p:sp>
        <p:nvSpPr>
          <p:cNvPr id="19" name="Text 14"/>
          <p:cNvSpPr/>
          <p:nvPr/>
        </p:nvSpPr>
        <p:spPr>
          <a:xfrm>
            <a:off x="581025" y="4162425"/>
            <a:ext cx="2336750" cy="469850"/>
          </a:xfrm>
          <a:prstGeom prst="roundRect">
            <a:avLst>
              <a:gd name="adj" fmla="val 13515"/>
            </a:avLst>
          </a:prstGeom>
          <a:solidFill>
            <a:srgbClr val="FCE8C6"/>
          </a:solidFill>
          <a:ln w="9525">
            <a:solidFill>
              <a:srgbClr val="10384C"/>
            </a:solidFill>
          </a:ln>
        </p:spPr>
        <p:txBody>
          <a:bodyPr wrap="square" rtlCol="0" anchor="ctr"/>
          <a:lstStyle/>
          <a:p>
            <a:pPr indent="0" marL="0">
              <a:buNone/>
            </a:pPr>
            <a:endParaRPr lang="en-US" dirty="0"/>
          </a:p>
        </p:txBody>
      </p:sp>
      <p:sp>
        <p:nvSpPr>
          <p:cNvPr id="20" name="Text 15"/>
          <p:cNvSpPr/>
          <p:nvPr/>
        </p:nvSpPr>
        <p:spPr>
          <a:xfrm>
            <a:off x="679400" y="4210050"/>
            <a:ext cx="518109" cy="355550"/>
          </a:xfrm>
          <a:prstGeom prst="rect">
            <a:avLst/>
          </a:prstGeom>
          <a:noFill/>
          <a:ln/>
        </p:spPr>
        <p:txBody>
          <a:bodyPr wrap="square" lIns="0" tIns="0" rIns="0" bIns="0" rtlCol="0" anchor="t"/>
          <a:lstStyle/>
          <a:p>
            <a:pPr algn="l" indent="0" marL="0">
              <a:lnSpc>
                <a:spcPts val="2800"/>
              </a:lnSpc>
              <a:buNone/>
            </a:pPr>
            <a:r>
              <a:rPr lang="en-US" sz="2800" b="1" dirty="0">
                <a:solidFill>
                  <a:srgbClr val="10384C"/>
                </a:solidFill>
                <a:latin typeface="Arial" pitchFamily="34" charset="0"/>
                <a:ea typeface="Arial" pitchFamily="34" charset="-122"/>
                <a:cs typeface="Arial" pitchFamily="34" charset="-120"/>
              </a:rPr>
              <a:t>2</a:t>
            </a:r>
            <a:endParaRPr lang="en-US" sz="2800" dirty="0"/>
          </a:p>
        </p:txBody>
      </p:sp>
      <p:sp>
        <p:nvSpPr>
          <p:cNvPr id="21" name="Text 16"/>
          <p:cNvSpPr/>
          <p:nvPr/>
        </p:nvSpPr>
        <p:spPr>
          <a:xfrm>
            <a:off x="1022300" y="4298900"/>
            <a:ext cx="1852321" cy="190500"/>
          </a:xfrm>
          <a:prstGeom prst="rect">
            <a:avLst/>
          </a:prstGeom>
          <a:noFill/>
          <a:ln/>
        </p:spPr>
        <p:txBody>
          <a:bodyPr wrap="square" lIns="0" tIns="0" rIns="0" bIns="0" rtlCol="0" anchor="t"/>
          <a:lstStyle/>
          <a:p>
            <a:pPr algn="l" indent="0" marL="0">
              <a:lnSpc>
                <a:spcPts val="1500"/>
              </a:lnSpc>
              <a:buNone/>
            </a:pPr>
            <a:r>
              <a:rPr lang="en-US" sz="1500" b="1" dirty="0">
                <a:solidFill>
                  <a:srgbClr val="10384C"/>
                </a:solidFill>
                <a:latin typeface="Arial" pitchFamily="34" charset="0"/>
                <a:ea typeface="Arial" pitchFamily="34" charset="-122"/>
                <a:cs typeface="Arial" pitchFamily="34" charset="-120"/>
              </a:rPr>
              <a:t>Backbones / Task</a:t>
            </a:r>
            <a:endParaRPr lang="en-US" sz="1500" dirty="0"/>
          </a:p>
        </p:txBody>
      </p:sp>
      <p:sp>
        <p:nvSpPr>
          <p:cNvPr id="22" name="Text 17"/>
          <p:cNvSpPr/>
          <p:nvPr/>
        </p:nvSpPr>
        <p:spPr>
          <a:xfrm>
            <a:off x="606326" y="4746575"/>
            <a:ext cx="2318665" cy="479822"/>
          </a:xfrm>
          <a:prstGeom prst="rect">
            <a:avLst/>
          </a:prstGeom>
          <a:noFill/>
          <a:ln/>
        </p:spPr>
        <p:txBody>
          <a:bodyPr wrap="square" lIns="0" tIns="0" rIns="0" bIns="0" rtlCol="0" anchor="t"/>
          <a:lstStyle/>
          <a:p>
            <a:pPr algn="l" indent="0" marL="0">
              <a:lnSpc>
                <a:spcPts val="1890"/>
              </a:lnSpc>
              <a:buNone/>
            </a:pPr>
            <a:r>
              <a:rPr lang="en-US" sz="1350" b="1" dirty="0">
                <a:solidFill>
                  <a:srgbClr val="10384C"/>
                </a:solidFill>
                <a:latin typeface="Arial" pitchFamily="34" charset="0"/>
                <a:ea typeface="Arial" pitchFamily="34" charset="-122"/>
                <a:cs typeface="Arial" pitchFamily="34" charset="-120"/>
              </a:rPr>
              <a:t>Classification</a:t>
            </a:r>
            <a:pPr algn="l" indent="0" marL="0">
              <a:lnSpc>
                <a:spcPts val="1890"/>
              </a:lnSpc>
              <a:buNone/>
            </a:pPr>
            <a:r>
              <a:rPr lang="en-US" sz="1350" dirty="0">
                <a:solidFill>
                  <a:srgbClr val="10384C"/>
                </a:solidFill>
                <a:latin typeface="Arial" pitchFamily="34" charset="0"/>
                <a:ea typeface="Arial" pitchFamily="34" charset="-122"/>
                <a:cs typeface="Arial" pitchFamily="34" charset="-120"/>
              </a:rPr>
              <a:t>: LR + MLP
</a:t>
            </a:r>
            <a:pPr algn="l" indent="0" marL="0">
              <a:lnSpc>
                <a:spcPts val="1890"/>
              </a:lnSpc>
              <a:buNone/>
            </a:pPr>
            <a:r>
              <a:rPr lang="en-US" sz="1350" b="1" dirty="0">
                <a:solidFill>
                  <a:srgbClr val="10384C"/>
                </a:solidFill>
                <a:latin typeface="Arial" pitchFamily="34" charset="0"/>
                <a:ea typeface="Arial" pitchFamily="34" charset="-122"/>
                <a:cs typeface="Arial" pitchFamily="34" charset="-120"/>
              </a:rPr>
              <a:t>Regression</a:t>
            </a:r>
            <a:pPr algn="l" indent="0" marL="0">
              <a:lnSpc>
                <a:spcPts val="1890"/>
              </a:lnSpc>
              <a:buNone/>
            </a:pPr>
            <a:r>
              <a:rPr lang="en-US" sz="1350" dirty="0">
                <a:solidFill>
                  <a:srgbClr val="10384C"/>
                </a:solidFill>
                <a:latin typeface="Arial" pitchFamily="34" charset="0"/>
                <a:ea typeface="Arial" pitchFamily="34" charset="-122"/>
                <a:cs typeface="Arial" pitchFamily="34" charset="-120"/>
              </a:rPr>
              <a:t>: Linear + MLP</a:t>
            </a:r>
            <a:endParaRPr lang="en-US" sz="1350" dirty="0"/>
          </a:p>
        </p:txBody>
      </p:sp>
      <p:sp>
        <p:nvSpPr>
          <p:cNvPr id="23" name="Text 18"/>
          <p:cNvSpPr/>
          <p:nvPr/>
        </p:nvSpPr>
        <p:spPr>
          <a:xfrm>
            <a:off x="3174950" y="4038600"/>
            <a:ext cx="2565350" cy="1803350"/>
          </a:xfrm>
          <a:prstGeom prst="roundRect">
            <a:avLst>
              <a:gd name="adj" fmla="val 5634"/>
            </a:avLst>
          </a:prstGeom>
          <a:solidFill>
            <a:srgbClr val="E6F4FC"/>
          </a:solidFill>
          <a:ln w="15240">
            <a:solidFill>
              <a:srgbClr val="10384C"/>
            </a:solidFill>
            <a:prstDash val="lgDash"/>
          </a:ln>
        </p:spPr>
        <p:txBody>
          <a:bodyPr wrap="square" rtlCol="0" anchor="ctr"/>
          <a:lstStyle/>
          <a:p>
            <a:pPr indent="0" marL="0">
              <a:buNone/>
            </a:pPr>
            <a:endParaRPr lang="en-US" dirty="0"/>
          </a:p>
        </p:txBody>
      </p:sp>
      <p:sp>
        <p:nvSpPr>
          <p:cNvPr id="24" name="Text 19"/>
          <p:cNvSpPr/>
          <p:nvPr/>
        </p:nvSpPr>
        <p:spPr>
          <a:xfrm>
            <a:off x="3298775" y="4162425"/>
            <a:ext cx="2336750" cy="469850"/>
          </a:xfrm>
          <a:prstGeom prst="roundRect">
            <a:avLst>
              <a:gd name="adj" fmla="val 13515"/>
            </a:avLst>
          </a:prstGeom>
          <a:solidFill>
            <a:srgbClr val="FCE8C6"/>
          </a:solidFill>
          <a:ln w="9525">
            <a:solidFill>
              <a:srgbClr val="10384C"/>
            </a:solidFill>
          </a:ln>
        </p:spPr>
        <p:txBody>
          <a:bodyPr wrap="square" rtlCol="0" anchor="ctr"/>
          <a:lstStyle/>
          <a:p>
            <a:pPr indent="0" marL="0">
              <a:buNone/>
            </a:pPr>
            <a:endParaRPr lang="en-US" dirty="0"/>
          </a:p>
        </p:txBody>
      </p:sp>
      <p:sp>
        <p:nvSpPr>
          <p:cNvPr id="25" name="Text 20"/>
          <p:cNvSpPr/>
          <p:nvPr/>
        </p:nvSpPr>
        <p:spPr>
          <a:xfrm>
            <a:off x="3397151" y="4210050"/>
            <a:ext cx="518109" cy="355550"/>
          </a:xfrm>
          <a:prstGeom prst="rect">
            <a:avLst/>
          </a:prstGeom>
          <a:noFill/>
          <a:ln/>
        </p:spPr>
        <p:txBody>
          <a:bodyPr wrap="square" lIns="0" tIns="0" rIns="0" bIns="0" rtlCol="0" anchor="t"/>
          <a:lstStyle/>
          <a:p>
            <a:pPr algn="l" indent="0" marL="0">
              <a:lnSpc>
                <a:spcPts val="2800"/>
              </a:lnSpc>
              <a:buNone/>
            </a:pPr>
            <a:r>
              <a:rPr lang="en-US" sz="2800" b="1" dirty="0">
                <a:solidFill>
                  <a:srgbClr val="10384C"/>
                </a:solidFill>
                <a:latin typeface="Arial" pitchFamily="34" charset="0"/>
                <a:ea typeface="Arial" pitchFamily="34" charset="-122"/>
                <a:cs typeface="Arial" pitchFamily="34" charset="-120"/>
              </a:rPr>
              <a:t>9</a:t>
            </a:r>
            <a:endParaRPr lang="en-US" sz="2800" dirty="0"/>
          </a:p>
        </p:txBody>
      </p:sp>
      <p:sp>
        <p:nvSpPr>
          <p:cNvPr id="26" name="Text 21"/>
          <p:cNvSpPr/>
          <p:nvPr/>
        </p:nvSpPr>
        <p:spPr>
          <a:xfrm>
            <a:off x="3740051" y="4210050"/>
            <a:ext cx="1852321" cy="387251"/>
          </a:xfrm>
          <a:prstGeom prst="rect">
            <a:avLst/>
          </a:prstGeom>
          <a:noFill/>
          <a:ln/>
        </p:spPr>
        <p:txBody>
          <a:bodyPr wrap="square" lIns="0" tIns="0" rIns="0" bIns="0" rtlCol="0" anchor="t"/>
          <a:lstStyle/>
          <a:p>
            <a:pPr algn="l" indent="0" marL="0">
              <a:lnSpc>
                <a:spcPts val="1526"/>
              </a:lnSpc>
              <a:buNone/>
            </a:pPr>
            <a:r>
              <a:rPr lang="en-US" sz="1350" b="1" dirty="0">
                <a:solidFill>
                  <a:srgbClr val="10384C"/>
                </a:solidFill>
                <a:latin typeface="Arial" pitchFamily="34" charset="0"/>
                <a:ea typeface="Arial" pitchFamily="34" charset="-122"/>
                <a:cs typeface="Arial" pitchFamily="34" charset="-120"/>
              </a:rPr>
              <a:t>Counterfactual</a:t>
            </a:r>
            <a:endParaRPr lang="en-US" sz="1350" dirty="0"/>
          </a:p>
          <a:p>
            <a:pPr algn="l" indent="0" marL="0">
              <a:lnSpc>
                <a:spcPts val="1526"/>
              </a:lnSpc>
              <a:buNone/>
            </a:pPr>
            <a:r>
              <a:rPr lang="en-US" sz="1350" b="1" dirty="0">
                <a:solidFill>
                  <a:srgbClr val="10384C"/>
                </a:solidFill>
                <a:latin typeface="Arial" pitchFamily="34" charset="0"/>
                <a:ea typeface="Arial" pitchFamily="34" charset="-122"/>
                <a:cs typeface="Arial" pitchFamily="34" charset="-120"/>
              </a:rPr>
              <a:t>Explanations Metrics</a:t>
            </a:r>
            <a:endParaRPr lang="en-US" sz="1350" dirty="0"/>
          </a:p>
        </p:txBody>
      </p:sp>
      <p:sp>
        <p:nvSpPr>
          <p:cNvPr id="27" name="Text 22"/>
          <p:cNvSpPr/>
          <p:nvPr/>
        </p:nvSpPr>
        <p:spPr>
          <a:xfrm>
            <a:off x="3324076" y="4746575"/>
            <a:ext cx="2318665" cy="777478"/>
          </a:xfrm>
          <a:prstGeom prst="rect">
            <a:avLst/>
          </a:prstGeom>
          <a:noFill/>
          <a:ln/>
        </p:spPr>
        <p:txBody>
          <a:bodyPr wrap="square" lIns="0" tIns="0" rIns="0" bIns="0" rtlCol="0" anchor="t"/>
          <a:lstStyle/>
          <a:p>
            <a:pPr algn="l" indent="0" marL="0">
              <a:lnSpc>
                <a:spcPts val="1531"/>
              </a:lnSpc>
              <a:buNone/>
            </a:pPr>
            <a:r>
              <a:rPr lang="en-US" sz="1160" dirty="0">
                <a:solidFill>
                  <a:srgbClr val="10384C"/>
                </a:solidFill>
                <a:latin typeface="Arial" pitchFamily="34" charset="0"/>
                <a:ea typeface="Arial" pitchFamily="34" charset="-122"/>
                <a:cs typeface="Arial" pitchFamily="34" charset="-120"/>
              </a:rPr>
              <a:t>Validity · Coverage · Sparsity</a:t>
            </a:r>
            <a:endParaRPr lang="en-US" sz="1160" dirty="0"/>
          </a:p>
          <a:p>
            <a:pPr algn="l" indent="0" marL="0">
              <a:lnSpc>
                <a:spcPts val="1531"/>
              </a:lnSpc>
              <a:buNone/>
            </a:pPr>
            <a:r>
              <a:rPr lang="en-US" sz="1160" dirty="0">
                <a:solidFill>
                  <a:srgbClr val="10384C"/>
                </a:solidFill>
                <a:latin typeface="Arial" pitchFamily="34" charset="0"/>
                <a:ea typeface="Arial" pitchFamily="34" charset="-122"/>
                <a:cs typeface="Arial" pitchFamily="34" charset="-120"/>
              </a:rPr>
              <a:t>Proximity · Runtime</a:t>
            </a:r>
            <a:endParaRPr lang="en-US" sz="1160" dirty="0"/>
          </a:p>
          <a:p>
            <a:pPr algn="l" indent="0" marL="0">
              <a:lnSpc>
                <a:spcPts val="1531"/>
              </a:lnSpc>
              <a:buNone/>
            </a:pPr>
            <a:r>
              <a:rPr lang="en-US" sz="1160" dirty="0">
                <a:solidFill>
                  <a:srgbClr val="10384C"/>
                </a:solidFill>
                <a:latin typeface="Arial" pitchFamily="34" charset="0"/>
                <a:ea typeface="Arial" pitchFamily="34" charset="-122"/>
                <a:cs typeface="Arial" pitchFamily="34" charset="-120"/>
              </a:rPr>
              <a:t>Prob. plausibility · Log-density</a:t>
            </a:r>
            <a:endParaRPr lang="en-US" sz="1160" dirty="0"/>
          </a:p>
          <a:p>
            <a:pPr algn="l" indent="0" marL="0">
              <a:lnSpc>
                <a:spcPts val="1531"/>
              </a:lnSpc>
              <a:buNone/>
            </a:pPr>
            <a:r>
              <a:rPr lang="en-US" sz="1160" dirty="0">
                <a:solidFill>
                  <a:srgbClr val="10384C"/>
                </a:solidFill>
                <a:latin typeface="Arial" pitchFamily="34" charset="0"/>
                <a:ea typeface="Arial" pitchFamily="34" charset="-122"/>
                <a:cs typeface="Arial" pitchFamily="34" charset="-120"/>
              </a:rPr>
              <a:t>LOF · Isolation Forest</a:t>
            </a:r>
            <a:endParaRPr lang="en-US" sz="1160" dirty="0"/>
          </a:p>
        </p:txBody>
      </p:sp>
      <p:sp>
        <p:nvSpPr>
          <p:cNvPr id="28" name="Text 23"/>
          <p:cNvSpPr/>
          <p:nvPr/>
        </p:nvSpPr>
        <p:spPr>
          <a:xfrm>
            <a:off x="6096000" y="1396901"/>
            <a:ext cx="1813459" cy="394246"/>
          </a:xfrm>
          <a:prstGeom prst="rect">
            <a:avLst/>
          </a:prstGeom>
          <a:noFill/>
          <a:ln/>
        </p:spPr>
        <p:txBody>
          <a:bodyPr wrap="square" lIns="0" tIns="0" rIns="0" bIns="0" rtlCol="0" anchor="t"/>
          <a:lstStyle/>
          <a:p>
            <a:pPr algn="l" indent="0" marL="0">
              <a:lnSpc>
                <a:spcPts val="3105"/>
              </a:lnSpc>
              <a:buNone/>
            </a:pPr>
            <a:r>
              <a:rPr lang="en-US" sz="2700" b="1" dirty="0">
                <a:solidFill>
                  <a:srgbClr val="13253C"/>
                </a:solidFill>
                <a:latin typeface="Georgia" pitchFamily="34" charset="0"/>
                <a:ea typeface="Georgia" pitchFamily="34" charset="-122"/>
                <a:cs typeface="Georgia" pitchFamily="34" charset="-120"/>
              </a:rPr>
              <a:t>Results</a:t>
            </a:r>
            <a:endParaRPr lang="en-US" sz="2700" dirty="0"/>
          </a:p>
        </p:txBody>
      </p:sp>
      <p:sp>
        <p:nvSpPr>
          <p:cNvPr id="29" name="Text 24"/>
          <p:cNvSpPr/>
          <p:nvPr/>
        </p:nvSpPr>
        <p:spPr>
          <a:xfrm>
            <a:off x="7900368" y="1447800"/>
            <a:ext cx="3834283" cy="174575"/>
          </a:xfrm>
          <a:prstGeom prst="rect">
            <a:avLst/>
          </a:prstGeom>
          <a:noFill/>
          <a:ln/>
        </p:spPr>
        <p:txBody>
          <a:bodyPr wrap="square" lIns="0" tIns="0" rIns="0" bIns="0" rtlCol="0" anchor="t"/>
          <a:lstStyle/>
          <a:p>
            <a:pPr algn="r" indent="0" marL="0">
              <a:lnSpc>
                <a:spcPts val="1375"/>
              </a:lnSpc>
              <a:buNone/>
            </a:pPr>
            <a:r>
              <a:rPr lang="en-US" sz="1100" dirty="0">
                <a:solidFill>
                  <a:srgbClr val="536274"/>
                </a:solidFill>
                <a:latin typeface="Arial" pitchFamily="34" charset="0"/>
                <a:ea typeface="Arial" pitchFamily="34" charset="-122"/>
                <a:cs typeface="Arial" pitchFamily="34" charset="-120"/>
              </a:rPr>
              <a:t>Adult Census · LR + MLP</a:t>
            </a:r>
            <a:endParaRPr lang="en-US" sz="1100" dirty="0"/>
          </a:p>
        </p:txBody>
      </p:sp>
      <p:sp>
        <p:nvSpPr>
          <p:cNvPr id="30" name="Text 25"/>
          <p:cNvSpPr/>
          <p:nvPr/>
        </p:nvSpPr>
        <p:spPr>
          <a:xfrm>
            <a:off x="6096000" y="1866900"/>
            <a:ext cx="1450797" cy="262830"/>
          </a:xfrm>
          <a:prstGeom prst="rect">
            <a:avLst/>
          </a:prstGeom>
          <a:noFill/>
          <a:ln/>
        </p:spPr>
        <p:txBody>
          <a:bodyPr wrap="square" lIns="0" tIns="0" rIns="0" bIns="0" rtlCol="0" anchor="t"/>
          <a:lstStyle/>
          <a:p>
            <a:pPr algn="l" indent="0" marL="0">
              <a:lnSpc>
                <a:spcPts val="2070"/>
              </a:lnSpc>
              <a:buNone/>
            </a:pPr>
            <a:r>
              <a:rPr lang="en-US" sz="1800" b="1" dirty="0">
                <a:solidFill>
                  <a:srgbClr val="13253C"/>
                </a:solidFill>
                <a:latin typeface="Georgia" pitchFamily="34" charset="0"/>
                <a:ea typeface="Georgia" pitchFamily="34" charset="-122"/>
                <a:cs typeface="Georgia" pitchFamily="34" charset="-120"/>
              </a:rPr>
              <a:t>Local</a:t>
            </a:r>
            <a:endParaRPr lang="en-US" sz="1800" dirty="0"/>
          </a:p>
        </p:txBody>
      </p:sp>
      <p:sp>
        <p:nvSpPr>
          <p:cNvPr id="31" name="Text 26"/>
          <p:cNvSpPr/>
          <p:nvPr/>
        </p:nvSpPr>
        <p:spPr>
          <a:xfrm>
            <a:off x="7620000" y="1917650"/>
            <a:ext cx="2072589" cy="182761"/>
          </a:xfrm>
          <a:prstGeom prst="rect">
            <a:avLst/>
          </a:prstGeom>
          <a:noFill/>
          <a:ln/>
        </p:spPr>
        <p:txBody>
          <a:bodyPr wrap="square" lIns="0" tIns="0" rIns="0" bIns="0" rtlCol="0" anchor="t"/>
          <a:lstStyle/>
          <a:p>
            <a:pPr algn="l" indent="0" marL="0">
              <a:lnSpc>
                <a:spcPts val="1440"/>
              </a:lnSpc>
              <a:buNone/>
            </a:pPr>
            <a:r>
              <a:rPr lang="en-US" sz="1200" dirty="0">
                <a:solidFill>
                  <a:srgbClr val="087F78"/>
                </a:solidFill>
                <a:latin typeface="Arial" pitchFamily="34" charset="0"/>
                <a:ea typeface="Arial" pitchFamily="34" charset="-122"/>
                <a:cs typeface="Arial" pitchFamily="34" charset="-120"/>
              </a:rPr>
              <a:t>No single winner</a:t>
            </a:r>
            <a:endParaRPr lang="en-US" sz="1200" dirty="0"/>
          </a:p>
        </p:txBody>
      </p:sp>
      <p:pic>
        <p:nvPicPr>
          <p:cNvPr id="32" name="Image 3" descr="/Users/ofurman/pwr/counterfactuals/poster/pitch/assets/local-results.png">    </p:cNvPr>
          <p:cNvPicPr>
            <a:picLocks noChangeAspect="1"/>
          </p:cNvPicPr>
          <p:nvPr/>
        </p:nvPicPr>
        <p:blipFill>
          <a:blip r:embed="rId4"/>
          <a:stretch>
            <a:fillRect/>
          </a:stretch>
        </p:blipFill>
        <p:spPr>
          <a:xfrm>
            <a:off x="6426101" y="2146250"/>
            <a:ext cx="4978301" cy="1346448"/>
          </a:xfrm>
          <a:prstGeom prst="rect">
            <a:avLst/>
          </a:prstGeom>
        </p:spPr>
      </p:pic>
      <p:sp>
        <p:nvSpPr>
          <p:cNvPr id="33" name="Text 27"/>
          <p:cNvSpPr/>
          <p:nvPr/>
        </p:nvSpPr>
        <p:spPr>
          <a:xfrm>
            <a:off x="6096000" y="3530501"/>
            <a:ext cx="1450797" cy="262830"/>
          </a:xfrm>
          <a:prstGeom prst="rect">
            <a:avLst/>
          </a:prstGeom>
          <a:noFill/>
          <a:ln/>
        </p:spPr>
        <p:txBody>
          <a:bodyPr wrap="square" lIns="0" tIns="0" rIns="0" bIns="0" rtlCol="0" anchor="t"/>
          <a:lstStyle/>
          <a:p>
            <a:pPr algn="l" indent="0" marL="0">
              <a:lnSpc>
                <a:spcPts val="2070"/>
              </a:lnSpc>
              <a:buNone/>
            </a:pPr>
            <a:r>
              <a:rPr lang="en-US" sz="1800" b="1" dirty="0">
                <a:solidFill>
                  <a:srgbClr val="13253C"/>
                </a:solidFill>
                <a:latin typeface="Georgia" pitchFamily="34" charset="0"/>
                <a:ea typeface="Georgia" pitchFamily="34" charset="-122"/>
                <a:cs typeface="Georgia" pitchFamily="34" charset="-120"/>
              </a:rPr>
              <a:t>Global</a:t>
            </a:r>
            <a:endParaRPr lang="en-US" sz="1800" dirty="0"/>
          </a:p>
        </p:txBody>
      </p:sp>
      <p:sp>
        <p:nvSpPr>
          <p:cNvPr id="34" name="Text 28"/>
          <p:cNvSpPr/>
          <p:nvPr/>
        </p:nvSpPr>
        <p:spPr>
          <a:xfrm>
            <a:off x="7175450" y="3581251"/>
            <a:ext cx="1878279" cy="182761"/>
          </a:xfrm>
          <a:prstGeom prst="rect">
            <a:avLst/>
          </a:prstGeom>
          <a:noFill/>
          <a:ln/>
        </p:spPr>
        <p:txBody>
          <a:bodyPr wrap="square" lIns="0" tIns="0" rIns="0" bIns="0" rtlCol="0" anchor="t"/>
          <a:lstStyle/>
          <a:p>
            <a:pPr algn="l" indent="0" marL="0">
              <a:lnSpc>
                <a:spcPts val="1440"/>
              </a:lnSpc>
              <a:buNone/>
            </a:pPr>
            <a:r>
              <a:rPr lang="en-US" sz="1200" dirty="0">
                <a:solidFill>
                  <a:srgbClr val="087F78"/>
                </a:solidFill>
                <a:latin typeface="Arial" pitchFamily="34" charset="0"/>
                <a:ea typeface="Arial" pitchFamily="34" charset="-122"/>
                <a:cs typeface="Arial" pitchFamily="34" charset="-120"/>
              </a:rPr>
              <a:t>Validity and failures</a:t>
            </a:r>
            <a:endParaRPr lang="en-US" sz="1200" dirty="0"/>
          </a:p>
        </p:txBody>
      </p:sp>
      <p:sp>
        <p:nvSpPr>
          <p:cNvPr id="35" name="Text 29"/>
          <p:cNvSpPr/>
          <p:nvPr/>
        </p:nvSpPr>
        <p:spPr>
          <a:xfrm>
            <a:off x="9651950" y="3530501"/>
            <a:ext cx="2124355" cy="277416"/>
          </a:xfrm>
          <a:prstGeom prst="rect">
            <a:avLst/>
          </a:prstGeom>
          <a:noFill/>
          <a:ln/>
        </p:spPr>
        <p:txBody>
          <a:bodyPr wrap="square" lIns="0" tIns="0" rIns="0" bIns="0" rtlCol="0" anchor="t"/>
          <a:lstStyle/>
          <a:p>
            <a:pPr algn="l" indent="0" marL="0">
              <a:lnSpc>
                <a:spcPts val="1093"/>
              </a:lnSpc>
              <a:buNone/>
            </a:pPr>
            <a:r>
              <a:rPr lang="en-US" sz="950" dirty="0">
                <a:solidFill>
                  <a:srgbClr val="536274"/>
                </a:solidFill>
                <a:latin typeface="Arial" pitchFamily="34" charset="0"/>
                <a:ea typeface="Arial" pitchFamily="34" charset="-122"/>
                <a:cs typeface="Arial" pitchFamily="34" charset="-120"/>
              </a:rPr>
              <a:t>1 AReS · 2 GLOBE-CE</a:t>
            </a:r>
            <a:endParaRPr lang="en-US" sz="950" dirty="0"/>
          </a:p>
          <a:p>
            <a:pPr algn="l" indent="0" marL="0">
              <a:lnSpc>
                <a:spcPts val="1093"/>
              </a:lnSpc>
              <a:buNone/>
            </a:pPr>
            <a:r>
              <a:rPr lang="en-US" sz="950" dirty="0">
                <a:solidFill>
                  <a:srgbClr val="536274"/>
                </a:solidFill>
                <a:latin typeface="Arial" pitchFamily="34" charset="0"/>
                <a:ea typeface="Arial" pitchFamily="34" charset="-122"/>
                <a:cs typeface="Arial" pitchFamily="34" charset="-120"/>
              </a:rPr>
              <a:t>3 GLANCE (one group)</a:t>
            </a:r>
            <a:endParaRPr lang="en-US" sz="950" dirty="0"/>
          </a:p>
        </p:txBody>
      </p:sp>
      <p:pic>
        <p:nvPicPr>
          <p:cNvPr id="36" name="Image 4" descr="/Users/ofurman/pwr/counterfactuals/poster/pitch/assets/global-results.png">    </p:cNvPr>
          <p:cNvPicPr>
            <a:picLocks noChangeAspect="1"/>
          </p:cNvPicPr>
          <p:nvPr/>
        </p:nvPicPr>
        <p:blipFill>
          <a:blip r:embed="rId5"/>
          <a:stretch>
            <a:fillRect/>
          </a:stretch>
        </p:blipFill>
        <p:spPr>
          <a:xfrm>
            <a:off x="6426101" y="3809851"/>
            <a:ext cx="4978301" cy="1213693"/>
          </a:xfrm>
          <a:prstGeom prst="rect">
            <a:avLst/>
          </a:prstGeom>
        </p:spPr>
      </p:pic>
      <p:sp>
        <p:nvSpPr>
          <p:cNvPr id="37" name="Text 30"/>
          <p:cNvSpPr/>
          <p:nvPr/>
        </p:nvSpPr>
        <p:spPr>
          <a:xfrm>
            <a:off x="6096000" y="5067300"/>
            <a:ext cx="1450797" cy="262830"/>
          </a:xfrm>
          <a:prstGeom prst="rect">
            <a:avLst/>
          </a:prstGeom>
          <a:noFill/>
          <a:ln/>
        </p:spPr>
        <p:txBody>
          <a:bodyPr wrap="square" lIns="0" tIns="0" rIns="0" bIns="0" rtlCol="0" anchor="t"/>
          <a:lstStyle/>
          <a:p>
            <a:pPr algn="l" indent="0" marL="0">
              <a:lnSpc>
                <a:spcPts val="2070"/>
              </a:lnSpc>
              <a:buNone/>
            </a:pPr>
            <a:r>
              <a:rPr lang="en-US" sz="1800" b="1" dirty="0">
                <a:solidFill>
                  <a:srgbClr val="13253C"/>
                </a:solidFill>
                <a:latin typeface="Georgia" pitchFamily="34" charset="0"/>
                <a:ea typeface="Georgia" pitchFamily="34" charset="-122"/>
                <a:cs typeface="Georgia" pitchFamily="34" charset="-120"/>
              </a:rPr>
              <a:t>Group-wise</a:t>
            </a:r>
            <a:endParaRPr lang="en-US" sz="1800" dirty="0"/>
          </a:p>
        </p:txBody>
      </p:sp>
      <p:sp>
        <p:nvSpPr>
          <p:cNvPr id="38" name="Text 31"/>
          <p:cNvSpPr/>
          <p:nvPr/>
        </p:nvSpPr>
        <p:spPr>
          <a:xfrm>
            <a:off x="7620000" y="5118050"/>
            <a:ext cx="2072589" cy="182761"/>
          </a:xfrm>
          <a:prstGeom prst="rect">
            <a:avLst/>
          </a:prstGeom>
          <a:noFill/>
          <a:ln/>
        </p:spPr>
        <p:txBody>
          <a:bodyPr wrap="square" lIns="0" tIns="0" rIns="0" bIns="0" rtlCol="0" anchor="t"/>
          <a:lstStyle/>
          <a:p>
            <a:pPr algn="l" indent="0" marL="0">
              <a:lnSpc>
                <a:spcPts val="1440"/>
              </a:lnSpc>
              <a:buNone/>
            </a:pPr>
            <a:r>
              <a:rPr lang="en-US" sz="1200" dirty="0">
                <a:solidFill>
                  <a:srgbClr val="087F78"/>
                </a:solidFill>
                <a:latin typeface="Arial" pitchFamily="34" charset="0"/>
                <a:ea typeface="Arial" pitchFamily="34" charset="-122"/>
                <a:cs typeface="Arial" pitchFamily="34" charset="-120"/>
              </a:rPr>
              <a:t>Reach versus change</a:t>
            </a:r>
            <a:endParaRPr lang="en-US" sz="1200" dirty="0"/>
          </a:p>
        </p:txBody>
      </p:sp>
      <p:pic>
        <p:nvPicPr>
          <p:cNvPr id="39" name="Image 5" descr="/Users/ofurman/pwr/counterfactuals/poster/pitch/assets/group-results.png">    </p:cNvPr>
          <p:cNvPicPr>
            <a:picLocks noChangeAspect="1"/>
          </p:cNvPicPr>
          <p:nvPr/>
        </p:nvPicPr>
        <p:blipFill>
          <a:blip r:embed="rId6"/>
          <a:stretch>
            <a:fillRect/>
          </a:stretch>
        </p:blipFill>
        <p:spPr>
          <a:xfrm>
            <a:off x="6426101" y="5346650"/>
            <a:ext cx="4978301" cy="1441252"/>
          </a:xfrm>
          <a:prstGeom prst="rect">
            <a:avLst/>
          </a:prstGeom>
        </p:spPr>
      </p:pic>
      <p:sp>
        <p:nvSpPr>
          <p:cNvPr id="40" name="Text 32"/>
          <p:cNvSpPr/>
          <p:nvPr/>
        </p:nvSpPr>
        <p:spPr>
          <a:xfrm>
            <a:off x="457200" y="6096000"/>
            <a:ext cx="4533799" cy="270123"/>
          </a:xfrm>
          <a:prstGeom prst="rect">
            <a:avLst/>
          </a:prstGeom>
          <a:noFill/>
          <a:ln/>
        </p:spPr>
        <p:txBody>
          <a:bodyPr wrap="square" lIns="0" tIns="0" rIns="0" bIns="0" rtlCol="0" anchor="t"/>
          <a:lstStyle/>
          <a:p>
            <a:pPr algn="l" indent="0" marL="0">
              <a:lnSpc>
                <a:spcPts val="2128"/>
              </a:lnSpc>
              <a:buNone/>
            </a:pPr>
            <a:r>
              <a:rPr lang="en-US" sz="1850" b="1" dirty="0">
                <a:solidFill>
                  <a:srgbClr val="087F78"/>
                </a:solidFill>
                <a:latin typeface="Arial" pitchFamily="34" charset="0"/>
                <a:ea typeface="Arial" pitchFamily="34" charset="-122"/>
                <a:cs typeface="Arial" pitchFamily="34" charset="-120"/>
              </a:rPr>
              <a:t>Bring your method to the benchmark.</a:t>
            </a:r>
            <a:endParaRPr lang="en-US" sz="1850" dirty="0"/>
          </a:p>
        </p:txBody>
      </p:sp>
      <p:pic>
        <p:nvPicPr>
          <p:cNvPr id="41" name="Image 6" descr="/Users/ofurman/pwr/counterfactuals/poster/pitch/assets/github-qr.png">    </p:cNvPr>
          <p:cNvPicPr>
            <a:picLocks noChangeAspect="1"/>
          </p:cNvPicPr>
          <p:nvPr/>
        </p:nvPicPr>
        <p:blipFill>
          <a:blip r:embed="rId7"/>
          <a:stretch>
            <a:fillRect/>
          </a:stretch>
        </p:blipFill>
        <p:spPr>
          <a:xfrm>
            <a:off x="5003750" y="6019800"/>
            <a:ext cx="736550" cy="736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 Comprehensive Counterfactual Explanations Library and Benchmark</dc:title>
  <dc:subject>Two-minute, one-slide poster pitch</dc:subject>
  <dc:creator>Oleksii Furman, Łukasz Lenkiewicz, Marcel Musiałek, Maciej Zięba</dc:creator>
  <cp:lastModifiedBy>Oleksii Furman, Łukasz Lenkiewicz, Marcel Musiałek, Maciej Zięba</cp:lastModifiedBy>
  <cp:revision>1</cp:revision>
  <dcterms:created xsi:type="dcterms:W3CDTF">2026-08-30T17:12:11Z</dcterms:created>
  <dcterms:modified xsi:type="dcterms:W3CDTF">2026-08-30T17:12:11Z</dcterms:modified>
</cp:coreProperties>
</file>